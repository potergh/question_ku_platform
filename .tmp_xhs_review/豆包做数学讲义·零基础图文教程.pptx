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8572500" cy="11430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976" autoAdjust="0"/>
  </p:normalViewPr>
  <p:slideViewPr>
    <p:cSldViewPr snapToGrid="0">
      <p:cViewPr>
        <p:scale>
          <a:sx n="66" d="100"/>
          <a:sy n="66" d="100"/>
        </p:scale>
        <p:origin x="2742" y="-10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609975" y="512763"/>
            <a:ext cx="19240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封面：用豆包（Doubao）从下载 skill 到制作完成初中数学《二次函数最值》讲义。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核心卖点：不装环境、不敲命令，全程对话。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配图：左侧学生版第1页、右侧教师版第1页。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609975" y="512763"/>
            <a:ext cx="19240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痛点：做讲义最耗时的其实是装环境。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用 Codex 做 skill 要配环境、敲命令、改代码，门槛高。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这些在豆包里都是对话就能完成。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609975" y="512763"/>
            <a:ext cx="19240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流程：全程 5 步——下载、安装、提需求、访谈、收成品。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难点（装环境）由豆包代劳，用户只做对话。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后 4 页分别展开 ① 下载、② 安装、③ 提需求、④ 访谈，第 8 页展示 ⑤ 成品。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609975" y="512763"/>
            <a:ext cx="19240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第一步：下载 Skill。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左侧是 GitHub 仓库截图，右侧三步：打开仓库、复制链接、发给豆包。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仓库：github.com/potergh/build-tutoring-handout。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609975" y="512763"/>
            <a:ext cx="19240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第二步：把 GitHub 链接发给豆包，让它安装。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深色框就是"发给豆包的话"，强调自动下载安装、无需配置环境。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仓库：github.com/potergh/build-tutoring-handout。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609975" y="512763"/>
            <a:ext cx="19240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</a:rPr>
              <a:t>第三步：提需求，4 </a:t>
            </a:r>
            <a:r>
              <a:rPr lang="en-US" sz="1200" b="0" i="0" u="none" strike="noStrike" dirty="0" err="1">
                <a:solidFill>
                  <a:srgbClr val="000000"/>
                </a:solidFill>
              </a:rPr>
              <a:t>项必写</a:t>
            </a:r>
            <a:r>
              <a:rPr lang="en-US" sz="1200" b="0" i="0" u="none" strike="noStrike" dirty="0">
                <a:solidFill>
                  <a:srgbClr val="000000"/>
                </a:solidFill>
              </a:rPr>
              <a:t>——</a:t>
            </a:r>
            <a:r>
              <a:rPr lang="en-US" sz="1200" b="0" i="0" u="none" strike="noStrike" dirty="0" err="1">
                <a:solidFill>
                  <a:srgbClr val="000000"/>
                </a:solidFill>
              </a:rPr>
              <a:t>题库、模板、输出、主题</a:t>
            </a:r>
            <a:r>
              <a:rPr lang="en-US" sz="12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</a:rPr>
              <a:t>深色框是本次真实需求的示例：一模试卷题库、滑轮讲义模板、二次函数最值</a:t>
            </a:r>
            <a:r>
              <a:rPr lang="en-US" sz="12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</a:rPr>
              <a:t>路径可替换，信息结构保持完整即可</a:t>
            </a:r>
            <a:r>
              <a:rPr lang="en-US" sz="12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609975" y="512763"/>
            <a:ext cx="19240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第四步：豆包访谈确认需求。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大卡展示典型问答，黄色条提示"别嫌问得多"，底部流程：提问→回答→方案→批准。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批准之后豆包才开工。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609975" y="512763"/>
            <a:ext cx="19240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第五步：收成品。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左侧学生版第2页、右侧教师版第2页（本次真实讲义渲染图）。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另外还拿到覆盖矩阵与 LaTeX 源码，可继续编辑。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609975" y="512763"/>
            <a:ext cx="19240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结尾：突出门槛降低。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以前要装环境、敲命令，现在用豆包只需对话。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CTA：把链接发给豆包试试。仓库 github.com/potergh/build-tutoring-handout。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hatGP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2450" y="514350"/>
            <a:ext cx="76200" cy="266700"/>
          </a:xfrm>
          <a:prstGeom prst="rect">
            <a:avLst/>
          </a:prstGeom>
          <a:solidFill>
            <a:srgbClr val="D94A4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81050" y="495300"/>
            <a:ext cx="3048000" cy="3238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25" b="1" i="0" u="none" strike="noStrike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豆包做数学讲义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334250" y="514350"/>
            <a:ext cx="666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275" b="1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1/9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>
            <a:off x="552450" y="10744200"/>
            <a:ext cx="7467600" cy="9525"/>
          </a:xfrm>
          <a:prstGeom prst="line">
            <a:avLst/>
          </a:prstGeom>
          <a:noFill/>
          <a:ln w="12700">
            <a:solidFill>
              <a:srgbClr val="D8D0C5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552450" y="10887075"/>
            <a:ext cx="4953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25" b="0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build-tutoring-handout｜零基础教程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2450" y="1181100"/>
            <a:ext cx="66675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750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用豆包做讲义，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 rot="-72000">
            <a:off x="514492" y="2013797"/>
            <a:ext cx="5583234" cy="704850"/>
          </a:xfrm>
          <a:prstGeom prst="rect">
            <a:avLst/>
          </a:prstGeom>
          <a:solidFill>
            <a:srgbClr val="FAEDB7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52450" y="2000250"/>
            <a:ext cx="723900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50" b="1" i="0" u="none" strike="noStrike" dirty="0" err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从下载</a:t>
            </a:r>
            <a:r>
              <a:rPr lang="en-US" sz="4050" b="1" i="0" u="none" strike="noStrike" dirty="0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Skill </a:t>
            </a:r>
            <a:r>
              <a:rPr lang="en-US" sz="4050" b="1" i="0" u="none" strike="noStrike" dirty="0" err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到成稿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552450" y="2857500"/>
            <a:ext cx="723900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50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全程都是对话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71500" y="3733800"/>
            <a:ext cx="723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47679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初中数学 · 二次函数最值 · 双版本＋LaTeX 源码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 rot="-120000">
            <a:off x="647700" y="4762500"/>
            <a:ext cx="3276600" cy="4933950"/>
          </a:xfrm>
          <a:prstGeom prst="roundRect">
            <a:avLst>
              <a:gd name="adj" fmla="val 3487"/>
            </a:avLst>
          </a:prstGeom>
          <a:solidFill>
            <a:srgbClr val="FFFDF8">
              <a:alpha val="100000"/>
            </a:srgbClr>
          </a:solidFill>
          <a:ln w="12700">
            <a:solidFill>
              <a:srgbClr val="D8D0C5">
                <a:alpha val="100000"/>
              </a:srgbClr>
            </a:solidFill>
            <a:prstDash val="solid"/>
          </a:ln>
          <a:effectLst>
            <a:outerShdw blurRad="50800" dist="12700" dir="5400000">
              <a:srgbClr val="000000">
                <a:alpha val="10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 rot="120000">
            <a:off x="4648200" y="4648200"/>
            <a:ext cx="3276600" cy="4933950"/>
          </a:xfrm>
          <a:prstGeom prst="roundRect">
            <a:avLst>
              <a:gd name="adj" fmla="val 3487"/>
            </a:avLst>
          </a:prstGeom>
          <a:solidFill>
            <a:srgbClr val="FFFDF8">
              <a:alpha val="100000"/>
            </a:srgbClr>
          </a:solidFill>
          <a:ln w="12700">
            <a:solidFill>
              <a:srgbClr val="D8D0C5">
                <a:alpha val="100000"/>
              </a:srgbClr>
            </a:solidFill>
            <a:prstDash val="solid"/>
          </a:ln>
          <a:effectLst>
            <a:outerShdw blurRad="50800" dist="12700" dir="5400000">
              <a:srgbClr val="000000">
                <a:alpha val="10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rcRect l="46" r="46"/>
          <a:stretch>
            <a:fillRect/>
          </a:stretch>
        </p:blipFill>
        <p:spPr>
          <a:xfrm rot="-119999">
            <a:off x="804254" y="4997814"/>
            <a:ext cx="2963492" cy="4191000"/>
          </a:xfrm>
          <a:prstGeom prst="roundRect">
            <a:avLst>
              <a:gd name="adj" fmla="val 3796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120000">
            <a:off x="4804754" y="4933950"/>
            <a:ext cx="2963492" cy="4191000"/>
          </a:xfrm>
          <a:prstGeom prst="roundRect">
            <a:avLst>
              <a:gd name="adj" fmla="val 379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1466850" y="9353550"/>
            <a:ext cx="161925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52755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学生版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467350" y="9239250"/>
            <a:ext cx="161925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教师版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2450" y="514350"/>
            <a:ext cx="76200" cy="266700"/>
          </a:xfrm>
          <a:prstGeom prst="rect">
            <a:avLst/>
          </a:prstGeom>
          <a:solidFill>
            <a:srgbClr val="D94A4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81050" y="495300"/>
            <a:ext cx="3048000" cy="3238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25" b="1" i="0" u="none" strike="noStrike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零基础也能上手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334250" y="514350"/>
            <a:ext cx="666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275" b="1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2/9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>
            <a:off x="552450" y="10744200"/>
            <a:ext cx="7467600" cy="9525"/>
          </a:xfrm>
          <a:prstGeom prst="line">
            <a:avLst/>
          </a:prstGeom>
          <a:noFill/>
          <a:ln w="12700">
            <a:solidFill>
              <a:srgbClr val="D8D0C5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552450" y="10887075"/>
            <a:ext cx="4953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25" b="0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build-tutoring-handout｜零基础教程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2450" y="1162050"/>
            <a:ext cx="7467600" cy="1219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450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做一份讲义，最耗时的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3450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其实是装环境</a:t>
            </a:r>
          </a:p>
        </p:txBody>
      </p:sp>
      <p:sp>
        <p:nvSpPr>
          <p:cNvPr id="8" name="AutoShape 8"/>
          <p:cNvSpPr/>
          <p:nvPr/>
        </p:nvSpPr>
        <p:spPr>
          <a:xfrm>
            <a:off x="609600" y="3219450"/>
            <a:ext cx="1143000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900" b="1" i="0" u="none" strike="noStrike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90700" y="3257550"/>
            <a:ext cx="15240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装环境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790700" y="3733800"/>
            <a:ext cx="5905500" cy="7429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配 Codex、Python、LaTeX，光环境就要折腾半天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>
            <a:off x="1790700" y="4572000"/>
            <a:ext cx="5905500" cy="9525"/>
          </a:xfrm>
          <a:prstGeom prst="line">
            <a:avLst/>
          </a:prstGeom>
          <a:noFill/>
          <a:ln w="12700">
            <a:solidFill>
              <a:srgbClr val="D8D0C5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09600" y="5200650"/>
            <a:ext cx="1143000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900" b="1" i="0" u="none" strike="noStrike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790700" y="5238750"/>
            <a:ext cx="15240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敲命令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790700" y="5715000"/>
            <a:ext cx="5905500" cy="7429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每一步都要手敲命令行，报错只能自己上网搜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>
            <a:off x="1790700" y="6553200"/>
            <a:ext cx="5905500" cy="9525"/>
          </a:xfrm>
          <a:prstGeom prst="line">
            <a:avLst/>
          </a:prstGeom>
          <a:noFill/>
          <a:ln w="12700">
            <a:solidFill>
              <a:srgbClr val="D8D0C5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09600" y="7181850"/>
            <a:ext cx="1143000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900" b="1" i="0" u="none" strike="noStrike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790700" y="7219950"/>
            <a:ext cx="15240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改代码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790700" y="7696200"/>
            <a:ext cx="5905500" cy="7429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想换个版式，得自己翻源码、改格式、反复编译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>
            <a:off x="1790700" y="8534400"/>
            <a:ext cx="5905500" cy="9525"/>
          </a:xfrm>
          <a:prstGeom prst="line">
            <a:avLst/>
          </a:prstGeom>
          <a:noFill/>
          <a:ln w="12700">
            <a:solidFill>
              <a:srgbClr val="D8D0C5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 rot="-36000">
            <a:off x="552450" y="9296400"/>
            <a:ext cx="7467600" cy="781050"/>
          </a:xfrm>
          <a:prstGeom prst="rect">
            <a:avLst/>
          </a:prstGeom>
          <a:solidFill>
            <a:srgbClr val="FAEDB7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42950" y="9505950"/>
            <a:ext cx="70866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 dirty="0" err="1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这些事，</a:t>
            </a:r>
            <a:r>
              <a:rPr lang="en-US" sz="2800" b="1" i="0" u="none" strike="noStrike" dirty="0" err="1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豆包都能用对话替你做完</a:t>
            </a:r>
            <a:r>
              <a:rPr lang="en-US" sz="2400" b="1" i="0" u="none" strike="noStrike" dirty="0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2450" y="514350"/>
            <a:ext cx="76200" cy="266700"/>
          </a:xfrm>
          <a:prstGeom prst="rect">
            <a:avLst/>
          </a:prstGeom>
          <a:solidFill>
            <a:srgbClr val="D94A4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81050" y="495300"/>
            <a:ext cx="3048000" cy="3238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25" b="1" i="0" u="none" strike="noStrike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零基础也能上手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334250" y="514350"/>
            <a:ext cx="666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275" b="1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3/9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>
            <a:off x="552450" y="10744200"/>
            <a:ext cx="7467600" cy="9525"/>
          </a:xfrm>
          <a:prstGeom prst="line">
            <a:avLst/>
          </a:prstGeom>
          <a:noFill/>
          <a:ln w="12700">
            <a:solidFill>
              <a:srgbClr val="D8D0C5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552450" y="10887075"/>
            <a:ext cx="4953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25" b="0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build-tutoring-handout｜零基础教程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2450" y="1162050"/>
            <a:ext cx="7467600" cy="1181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450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全程 5 步，看图就懂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3450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最难的装环境，豆包来</a:t>
            </a:r>
          </a:p>
        </p:txBody>
      </p:sp>
      <p:sp>
        <p:nvSpPr>
          <p:cNvPr id="8" name="AutoShape 8"/>
          <p:cNvSpPr/>
          <p:nvPr/>
        </p:nvSpPr>
        <p:spPr>
          <a:xfrm>
            <a:off x="685800" y="2476500"/>
            <a:ext cx="7200900" cy="1123950"/>
          </a:xfrm>
          <a:prstGeom prst="roundRect">
            <a:avLst>
              <a:gd name="adj" fmla="val 10169"/>
            </a:avLst>
          </a:prstGeom>
          <a:solidFill>
            <a:srgbClr val="F4D8D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33450" y="2714625"/>
            <a:ext cx="120015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175" b="1" i="0" u="none" strike="noStrike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下载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266950" y="2686050"/>
            <a:ext cx="5257800" cy="6286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75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① 下载 Skill，复制它的 GitHub 链接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971925" y="3625850"/>
            <a:ext cx="6096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250" b="1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↓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85800" y="3962400"/>
            <a:ext cx="7200900" cy="1123950"/>
          </a:xfrm>
          <a:prstGeom prst="roundRect">
            <a:avLst>
              <a:gd name="adj" fmla="val 10169"/>
            </a:avLst>
          </a:prstGeom>
          <a:solidFill>
            <a:srgbClr val="DDE6F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33450" y="4200525"/>
            <a:ext cx="120015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175" b="1" i="0" u="none" strike="noStrike">
                <a:solidFill>
                  <a:srgbClr val="47679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安装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266950" y="4171950"/>
            <a:ext cx="5257800" cy="6286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75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② 把链接发给豆包，它自己装好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971925" y="5111750"/>
            <a:ext cx="6096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250" b="1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↓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85800" y="5448300"/>
            <a:ext cx="7200900" cy="1123950"/>
          </a:xfrm>
          <a:prstGeom prst="roundRect">
            <a:avLst>
              <a:gd name="adj" fmla="val 10169"/>
            </a:avLst>
          </a:prstGeom>
          <a:solidFill>
            <a:srgbClr val="FAED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33450" y="5686425"/>
            <a:ext cx="120015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175" b="1" i="0" u="none" strike="noStrike">
                <a:solidFill>
                  <a:srgbClr val="9872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提需求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266950" y="5657850"/>
            <a:ext cx="5257800" cy="6286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75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③ 说清题目、模板、输出格式要求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971925" y="6597650"/>
            <a:ext cx="6096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250" b="1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↓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85800" y="6934200"/>
            <a:ext cx="7200900" cy="1123950"/>
          </a:xfrm>
          <a:prstGeom prst="roundRect">
            <a:avLst>
              <a:gd name="adj" fmla="val 10169"/>
            </a:avLst>
          </a:prstGeom>
          <a:solidFill>
            <a:srgbClr val="DCEBD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33450" y="7172325"/>
            <a:ext cx="120015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175" b="1" i="0" u="none" strike="noStrike">
                <a:solidFill>
                  <a:srgbClr val="52755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访谈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266950" y="7143750"/>
            <a:ext cx="5257800" cy="6286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75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④ 豆包先问几轮，答完再批准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971925" y="8083550"/>
            <a:ext cx="6096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250" b="1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↓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85800" y="8420100"/>
            <a:ext cx="7200900" cy="1123950"/>
          </a:xfrm>
          <a:prstGeom prst="roundRect">
            <a:avLst>
              <a:gd name="adj" fmla="val 10169"/>
            </a:avLst>
          </a:prstGeom>
          <a:solidFill>
            <a:srgbClr val="F4D8D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933450" y="8658225"/>
            <a:ext cx="120015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175" b="1" i="0" u="none" strike="noStrike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收成品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2266950" y="8629650"/>
            <a:ext cx="5257800" cy="6286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75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⑤ 收到学生版＋教师版＋LaTeX 源码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04850" y="9842500"/>
            <a:ext cx="7162800" cy="5143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你只需要会打字、能说清需求，剩下交给对话</a:t>
            </a:r>
            <a:r>
              <a:rPr lang="en-US" sz="2000" b="1" i="0" u="none" strike="noStrike" dirty="0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2450" y="514350"/>
            <a:ext cx="76200" cy="266700"/>
          </a:xfrm>
          <a:prstGeom prst="rect">
            <a:avLst/>
          </a:prstGeom>
          <a:solidFill>
            <a:srgbClr val="D94A4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81050" y="495300"/>
            <a:ext cx="3048000" cy="3238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25" b="1" i="0" u="none" strike="noStrike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零基础也能上手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334250" y="514350"/>
            <a:ext cx="666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275" b="1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4/9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>
            <a:off x="552450" y="10744200"/>
            <a:ext cx="7467600" cy="9525"/>
          </a:xfrm>
          <a:prstGeom prst="line">
            <a:avLst/>
          </a:prstGeom>
          <a:noFill/>
          <a:ln w="12700">
            <a:solidFill>
              <a:srgbClr val="D8D0C5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552450" y="10887075"/>
            <a:ext cx="4953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25" b="0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build-tutoring-handout｜零基础教程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2450" y="1162050"/>
            <a:ext cx="7467600" cy="12001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450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第一步：拿到这个 Skill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3450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就是下面这个 GitHub 仓库</a:t>
            </a:r>
          </a:p>
        </p:txBody>
      </p:sp>
      <p:sp>
        <p:nvSpPr>
          <p:cNvPr id="8" name="AutoShape 8"/>
          <p:cNvSpPr/>
          <p:nvPr/>
        </p:nvSpPr>
        <p:spPr>
          <a:xfrm>
            <a:off x="666750" y="2794000"/>
            <a:ext cx="3276600" cy="5461000"/>
          </a:xfrm>
          <a:prstGeom prst="roundRect">
            <a:avLst>
              <a:gd name="adj" fmla="val 3488"/>
            </a:avLst>
          </a:prstGeom>
          <a:solidFill>
            <a:srgbClr val="FFFDF8">
              <a:alpha val="100000"/>
            </a:srgbClr>
          </a:solidFill>
          <a:ln w="12700" cap="flat" cmpd="sng">
            <a:solidFill>
              <a:srgbClr val="D8D0C5">
                <a:alpha val="100000"/>
              </a:srgbClr>
            </a:solidFill>
            <a:prstDash val="solid"/>
            <a:miter lim="1000000"/>
          </a:ln>
          <a:effectLst>
            <a:outerShdw blurRad="12700" dir="5400000" algn="tl">
              <a:srgbClr val="000000">
                <a:alpha val="6000"/>
              </a:srgbClr>
            </a:outerShdw>
          </a:effectLst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38200" y="2971800"/>
            <a:ext cx="2933700" cy="3403600"/>
          </a:xfrm>
          <a:prstGeom prst="roundRect">
            <a:avLst>
              <a:gd name="adj" fmla="val 389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838200" y="6527800"/>
            <a:ext cx="2933700" cy="1219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>
                <a:solidFill>
                  <a:srgbClr val="47679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build-tutoring-handout</a:t>
            </a:r>
            <a:endParaRPr lang="en-US" sz="1200" dirty="0"/>
          </a:p>
          <a:p>
            <a:pPr marL="0" indent="0" algn="l">
              <a:lnSpc>
                <a:spcPct val="100000"/>
              </a:lnSpc>
            </a:pPr>
            <a:r>
              <a:rPr lang="en-US" b="0" i="0" u="none" strike="noStrike" dirty="0" err="1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学科讲义制作</a:t>
            </a:r>
            <a:r>
              <a:rPr lang="en-US" b="0" i="0" u="none" strike="noStrike" dirty="0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Skill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MIT </a:t>
            </a:r>
            <a:r>
              <a:rPr lang="en-US" sz="1200" b="0" i="0" u="none" strike="noStrike" dirty="0" err="1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协议</a:t>
            </a:r>
            <a:r>
              <a:rPr lang="en-US" sz="1200" b="0" i="0" u="none" strike="noStrike" dirty="0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· </a:t>
            </a:r>
            <a:r>
              <a:rPr lang="en-US" sz="1200" b="0" i="0" u="none" strike="noStrike" dirty="0" err="1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公开仓库</a:t>
            </a:r>
            <a:endParaRPr lang="en-US" sz="1200" b="0" i="0" u="none" strike="noStrike" dirty="0">
              <a:solidFill>
                <a:srgbClr val="6E716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254500" y="3048000"/>
            <a:ext cx="88900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900" b="1" i="0" u="none" strike="noStrike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01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143500" y="3124200"/>
            <a:ext cx="1905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325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打开仓库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254500" y="3657600"/>
            <a:ext cx="36322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在浏览器打开仓库主页，确认是你要的这个 Skill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3004">
            <a:off x="4254505" y="4468813"/>
            <a:ext cx="3632212" cy="12700"/>
          </a:xfrm>
          <a:prstGeom prst="line">
            <a:avLst/>
          </a:prstGeom>
          <a:noFill/>
          <a:ln w="12700" cap="sq" cmpd="sng">
            <a:solidFill>
              <a:srgbClr val="D8D0C5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254500" y="4724400"/>
            <a:ext cx="88900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900" b="1" i="0" u="none" strike="noStrike">
                <a:solidFill>
                  <a:srgbClr val="47679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143500" y="4800600"/>
            <a:ext cx="1905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325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复制链接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254500" y="5334000"/>
            <a:ext cx="36322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点 Code 旁的链接图标，复制仓库地址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3004">
            <a:off x="4254505" y="6145213"/>
            <a:ext cx="363221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D8D0C5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254500" y="6400800"/>
            <a:ext cx="88900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900" b="1" i="0" u="none" strike="noStrike">
                <a:solidFill>
                  <a:srgbClr val="52755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03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143500" y="6477000"/>
            <a:ext cx="1905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325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发给豆包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254500" y="7010400"/>
            <a:ext cx="36322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粘贴给豆包，下一步它自己装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 rot="30000">
            <a:off x="666750" y="8839200"/>
            <a:ext cx="7239000" cy="819150"/>
          </a:xfrm>
          <a:prstGeom prst="rect">
            <a:avLst/>
          </a:prstGeom>
          <a:solidFill>
            <a:srgbClr val="FAEDB7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76300" y="9067800"/>
            <a:ext cx="6819900" cy="3619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25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全程只要复制一条链接，剩下的交给对话。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2450" y="514350"/>
            <a:ext cx="76200" cy="266700"/>
          </a:xfrm>
          <a:prstGeom prst="rect">
            <a:avLst/>
          </a:prstGeom>
          <a:solidFill>
            <a:srgbClr val="D94A4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81050" y="495300"/>
            <a:ext cx="3048000" cy="3238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25" b="1" i="0" u="none" strike="noStrike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零基础也能上手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334250" y="514350"/>
            <a:ext cx="666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275" b="1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5/9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>
            <a:off x="549729" y="9896475"/>
            <a:ext cx="7467600" cy="9525"/>
          </a:xfrm>
          <a:prstGeom prst="line">
            <a:avLst/>
          </a:prstGeom>
          <a:noFill/>
          <a:ln w="12700">
            <a:solidFill>
              <a:srgbClr val="D8D0C5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549729" y="10039350"/>
            <a:ext cx="4953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25" b="0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build-tutoring-handout｜零基础教程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2450" y="1162050"/>
            <a:ext cx="7467600" cy="12001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450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第二步：把链接发给豆包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3450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剩下的安装，它自己完成</a:t>
            </a:r>
          </a:p>
        </p:txBody>
      </p:sp>
      <p:sp>
        <p:nvSpPr>
          <p:cNvPr id="8" name="AutoShape 8"/>
          <p:cNvSpPr/>
          <p:nvPr/>
        </p:nvSpPr>
        <p:spPr>
          <a:xfrm>
            <a:off x="666750" y="2857500"/>
            <a:ext cx="6877050" cy="4467679"/>
          </a:xfrm>
          <a:prstGeom prst="roundRect">
            <a:avLst>
              <a:gd name="adj" fmla="val 2142"/>
            </a:avLst>
          </a:prstGeom>
          <a:solidFill>
            <a:srgbClr val="24272D">
              <a:alpha val="100000"/>
            </a:srgbClr>
          </a:solidFill>
          <a:ln w="12700">
            <a:solidFill>
              <a:srgbClr val="24272D">
                <a:alpha val="100000"/>
              </a:srgbClr>
            </a:solidFill>
            <a:prstDash val="solid"/>
          </a:ln>
          <a:effectLst>
            <a:outerShdw blurRad="50800" dist="12700" dir="5400000">
              <a:srgbClr val="000000">
                <a:alpha val="10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92629" y="3067050"/>
            <a:ext cx="6515100" cy="423862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请把</a:t>
            </a:r>
            <a:r>
              <a:rPr lang="en-US" sz="2400" b="0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 https://github.com/potergh/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2400" b="0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build-tutoring-handout </a:t>
            </a: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安装成</a:t>
            </a:r>
            <a:r>
              <a:rPr lang="en-US" sz="2400" b="0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 Skill，</a:t>
            </a:r>
          </a:p>
          <a:p>
            <a:pPr marL="0" indent="0" algn="l">
              <a:lnSpc>
                <a:spcPct val="100000"/>
              </a:lnSpc>
            </a:pP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装好后我要做初中数学讲义</a:t>
            </a:r>
            <a:r>
              <a:rPr lang="en-US" sz="2400" b="0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。</a:t>
            </a:r>
          </a:p>
          <a:p>
            <a:pPr marL="0" indent="0" algn="l">
              <a:lnSpc>
                <a:spcPct val="100000"/>
              </a:lnSpc>
            </a:pPr>
            <a:endParaRPr lang="en-US" sz="2400" b="0" i="0" u="none" strike="noStrike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  <a:sym typeface="Microsoft YaHei"/>
            </a:endParaRPr>
          </a:p>
          <a:p>
            <a:pPr marL="0" indent="0" algn="l">
              <a:lnSpc>
                <a:spcPct val="100000"/>
              </a:lnSpc>
            </a:pPr>
            <a:endParaRPr lang="en-US" sz="2400" b="0" i="0" u="none" strike="noStrike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  <a:sym typeface="Microsoft YaHei"/>
            </a:endParaRPr>
          </a:p>
          <a:p>
            <a:pPr marL="0" indent="0" algn="l">
              <a:lnSpc>
                <a:spcPct val="100000"/>
              </a:lnSpc>
            </a:pPr>
            <a:endParaRPr 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  <a:sym typeface="Microsoft YaHei"/>
            </a:endParaRPr>
          </a:p>
          <a:p>
            <a:pPr marL="0" indent="0" algn="l">
              <a:lnSpc>
                <a:spcPct val="100000"/>
              </a:lnSpc>
            </a:pPr>
            <a:endParaRPr lang="en-US" sz="2400" b="0" i="0" u="none" strike="noStrike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  <a:sym typeface="Microsoft YaHei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2400" b="0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（</a:t>
            </a: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不用教它怎么装</a:t>
            </a:r>
            <a:r>
              <a:rPr lang="en-US" sz="2400" b="0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，</a:t>
            </a:r>
          </a:p>
          <a:p>
            <a:pPr marL="0" indent="0" algn="l">
              <a:lnSpc>
                <a:spcPct val="100000"/>
              </a:lnSpc>
            </a:pP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豆包会自己下载、自动配置</a:t>
            </a:r>
            <a:r>
              <a:rPr lang="en-US" sz="2400" b="0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，</a:t>
            </a:r>
          </a:p>
          <a:p>
            <a:pPr marL="0" indent="0" algn="l">
              <a:lnSpc>
                <a:spcPct val="100000"/>
              </a:lnSpc>
            </a:pP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装完还会告诉我怎么用</a:t>
            </a:r>
            <a:r>
              <a:rPr lang="en-US" sz="2400" b="0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。）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92629" y="7839075"/>
            <a:ext cx="14478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25" b="1" i="0" u="none" strike="noStrike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自动下载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>
            <a:off x="1121229" y="8372475"/>
            <a:ext cx="990600" cy="38100"/>
          </a:xfrm>
          <a:prstGeom prst="line">
            <a:avLst/>
          </a:prstGeom>
          <a:noFill/>
          <a:ln w="38100">
            <a:solidFill>
              <a:srgbClr val="D94A45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2702379" y="7839075"/>
            <a:ext cx="14478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25" b="1" i="0" u="none" strike="noStrike">
                <a:solidFill>
                  <a:srgbClr val="47679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自动安装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>
            <a:off x="2930979" y="8372475"/>
            <a:ext cx="990600" cy="38100"/>
          </a:xfrm>
          <a:prstGeom prst="line">
            <a:avLst/>
          </a:prstGeom>
          <a:noFill/>
          <a:ln w="38100">
            <a:solidFill>
              <a:srgbClr val="47679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512129" y="7839075"/>
            <a:ext cx="14478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25" b="1" i="0" u="none" strike="noStrike">
                <a:solidFill>
                  <a:srgbClr val="52755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无需配环境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>
            <a:off x="4740729" y="8372475"/>
            <a:ext cx="990600" cy="38100"/>
          </a:xfrm>
          <a:prstGeom prst="line">
            <a:avLst/>
          </a:prstGeom>
          <a:noFill/>
          <a:ln w="38100">
            <a:solidFill>
              <a:srgbClr val="52755F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321879" y="7839075"/>
            <a:ext cx="14478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25" b="1" i="0" u="none" strike="noStrike">
                <a:solidFill>
                  <a:srgbClr val="9A741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装好即用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>
            <a:off x="6550479" y="8372475"/>
            <a:ext cx="990600" cy="38100"/>
          </a:xfrm>
          <a:prstGeom prst="line">
            <a:avLst/>
          </a:prstGeom>
          <a:noFill/>
          <a:ln w="38100">
            <a:solidFill>
              <a:srgbClr val="9A741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759279" y="8943975"/>
            <a:ext cx="70485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不用装 Python、不用配 LaTeX，豆包自己会处理。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2450" y="514350"/>
            <a:ext cx="76200" cy="266700"/>
          </a:xfrm>
          <a:prstGeom prst="roundRect">
            <a:avLst>
              <a:gd name="adj" fmla="val 0"/>
            </a:avLst>
          </a:prstGeom>
          <a:solidFill>
            <a:srgbClr val="D94A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81050" y="495300"/>
            <a:ext cx="3048000" cy="3238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25" b="1" i="0" u="none" strike="noStrike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零基础也能上手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334250" y="514350"/>
            <a:ext cx="66675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275" b="1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6/9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1461">
            <a:off x="603242" y="10289945"/>
            <a:ext cx="746760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D8D0C5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3240" y="10434407"/>
            <a:ext cx="4953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25" b="0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build-tutoring-handout｜零基础教程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2450" y="1162050"/>
            <a:ext cx="7467600" cy="12001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450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第三步：提需求，这 4 项必写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3450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说清楚，成品才合心意</a:t>
            </a:r>
          </a:p>
        </p:txBody>
      </p:sp>
      <p:sp>
        <p:nvSpPr>
          <p:cNvPr id="8" name="AutoShape 8"/>
          <p:cNvSpPr/>
          <p:nvPr/>
        </p:nvSpPr>
        <p:spPr>
          <a:xfrm>
            <a:off x="666750" y="2857500"/>
            <a:ext cx="6877050" cy="4555221"/>
          </a:xfrm>
          <a:prstGeom prst="roundRect">
            <a:avLst>
              <a:gd name="adj" fmla="val 2142"/>
            </a:avLst>
          </a:prstGeom>
          <a:solidFill>
            <a:srgbClr val="24272D">
              <a:alpha val="100000"/>
            </a:srgbClr>
          </a:solidFill>
          <a:ln w="12700" cap="flat" cmpd="sng">
            <a:solidFill>
              <a:srgbClr val="24272D">
                <a:alpha val="100000"/>
              </a:srgbClr>
            </a:solidFill>
            <a:prstDash val="solid"/>
            <a:miter lim="1000000"/>
          </a:ln>
          <a:effectLst>
            <a:outerShdw blurRad="50800" dist="12700" dir="5400000" algn="tl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28700" y="3257550"/>
            <a:ext cx="6515100" cy="3848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请使用</a:t>
            </a:r>
            <a:r>
              <a:rPr lang="en-US" sz="2400" b="0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 build-tutoring-handout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制作初三数学专题讲义</a:t>
            </a:r>
            <a:r>
              <a:rPr lang="en-US" sz="2400" b="0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。</a:t>
            </a:r>
          </a:p>
          <a:p>
            <a:pPr marL="0" indent="0" algn="l">
              <a:lnSpc>
                <a:spcPct val="100000"/>
              </a:lnSpc>
            </a:pPr>
            <a:endParaRPr lang="en-US" sz="2400" b="0" i="0" u="none" strike="noStrike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  <a:sym typeface="Microsoft YaHei"/>
            </a:endParaRPr>
          </a:p>
          <a:p>
            <a:pPr marL="0" indent="0" algn="l">
              <a:lnSpc>
                <a:spcPct val="100000"/>
              </a:lnSpc>
            </a:pPr>
            <a:endParaRPr 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  <a:sym typeface="Microsoft YaHei"/>
            </a:endParaRPr>
          </a:p>
          <a:p>
            <a:pPr marL="0" indent="0" algn="l">
              <a:lnSpc>
                <a:spcPct val="100000"/>
              </a:lnSpc>
            </a:pPr>
            <a:endParaRPr lang="en-US" sz="2400" b="0" i="0" u="none" strike="noStrike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  <a:sym typeface="Microsoft YaHei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题库：近三年一模试卷·数学专项</a:t>
            </a:r>
            <a:endParaRPr lang="en-US" sz="2400" b="0" i="0" u="none" strike="noStrike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  <a:sym typeface="Microsoft YaHei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模板：物理八下“滑轮”讲义模板</a:t>
            </a:r>
            <a:endParaRPr lang="en-US" sz="2400" b="0" i="0" u="none" strike="noStrike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  <a:sym typeface="Microsoft YaHei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输出：数学讲义文件夹</a:t>
            </a:r>
            <a:endParaRPr lang="en-US" sz="2400" b="0" i="0" u="none" strike="noStrike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  <a:sym typeface="Microsoft YaHei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2400" b="0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主题：二次函数最值，2 </a:t>
            </a: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  <a:sym typeface="Microsoft YaHei"/>
              </a:rPr>
              <a:t>次课时</a:t>
            </a:r>
            <a:endParaRPr lang="en-US" sz="2400" b="0" i="0" u="none" strike="noStrike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  <a:sym typeface="Microsoft YaHei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946139" y="8084910"/>
            <a:ext cx="14478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25" b="1" i="0" u="none" strike="noStrike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题库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88117">
            <a:off x="1174413" y="8631012"/>
            <a:ext cx="99133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sq" cmpd="sng">
            <a:solidFill>
              <a:srgbClr val="D94A45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2755889" y="8084910"/>
            <a:ext cx="14478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25" b="1" i="0" u="none" strike="noStrike">
                <a:solidFill>
                  <a:srgbClr val="47679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模板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88117">
            <a:off x="2984163" y="8631012"/>
            <a:ext cx="99133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sq" cmpd="sng">
            <a:solidFill>
              <a:srgbClr val="47679C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565639" y="8084910"/>
            <a:ext cx="14478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25" b="1" i="0" u="none" strike="noStrike">
                <a:solidFill>
                  <a:srgbClr val="52755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输出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88117">
            <a:off x="4793913" y="8631012"/>
            <a:ext cx="99133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sq" cmpd="sng">
            <a:solidFill>
              <a:srgbClr val="52755F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375389" y="8084910"/>
            <a:ext cx="14478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25" b="1" i="0" u="none" strike="noStrike">
                <a:solidFill>
                  <a:srgbClr val="9A741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主题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88117">
            <a:off x="6603663" y="8631012"/>
            <a:ext cx="99133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sq" cmpd="sng">
            <a:solidFill>
              <a:srgbClr val="9A741C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12789" y="9189810"/>
            <a:ext cx="70485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路径可以替换，但信息结构尽量保持完整。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2450" y="514350"/>
            <a:ext cx="76200" cy="266700"/>
          </a:xfrm>
          <a:prstGeom prst="rect">
            <a:avLst/>
          </a:prstGeom>
          <a:solidFill>
            <a:srgbClr val="D94A4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81050" y="495300"/>
            <a:ext cx="3048000" cy="3238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25" b="1" i="0" u="none" strike="noStrike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零基础也能上手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334250" y="514350"/>
            <a:ext cx="666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275" b="1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7/9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>
            <a:off x="552450" y="10744200"/>
            <a:ext cx="7467600" cy="9525"/>
          </a:xfrm>
          <a:prstGeom prst="line">
            <a:avLst/>
          </a:prstGeom>
          <a:noFill/>
          <a:ln w="12700">
            <a:solidFill>
              <a:srgbClr val="D8D0C5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552450" y="10887075"/>
            <a:ext cx="4953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25" b="0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build-tutoring-handout｜零基础教程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2450" y="1162050"/>
            <a:ext cx="7467600" cy="12001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450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第四步：豆包会先问你几轮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3450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答完再点“批准”，它才开工</a:t>
            </a:r>
          </a:p>
        </p:txBody>
      </p:sp>
      <p:sp>
        <p:nvSpPr>
          <p:cNvPr id="8" name="AutoShape 8"/>
          <p:cNvSpPr/>
          <p:nvPr/>
        </p:nvSpPr>
        <p:spPr>
          <a:xfrm>
            <a:off x="685800" y="2895600"/>
            <a:ext cx="7200900" cy="2228850"/>
          </a:xfrm>
          <a:prstGeom prst="roundRect">
            <a:avLst>
              <a:gd name="adj" fmla="val 4615"/>
            </a:avLst>
          </a:prstGeom>
          <a:solidFill>
            <a:srgbClr val="FFFDF8">
              <a:alpha val="100000"/>
            </a:srgbClr>
          </a:solidFill>
          <a:ln w="12700">
            <a:solidFill>
              <a:srgbClr val="D8D0C5">
                <a:alpha val="100000"/>
              </a:srgbClr>
            </a:solidFill>
            <a:prstDash val="solid"/>
          </a:ln>
          <a:effectLst>
            <a:outerShdw blurRad="12700" dir="5400000">
              <a:srgbClr val="000000">
                <a:alpha val="6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492250" y="3339648"/>
            <a:ext cx="5588000" cy="198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0" i="0" u="none" strike="noStrike" dirty="0" err="1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学生水平</a:t>
            </a:r>
            <a:r>
              <a:rPr lang="en-US" sz="2400" b="0" i="0" u="none" strike="noStrike" dirty="0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？→ </a:t>
            </a:r>
            <a:r>
              <a:rPr lang="en-US" sz="2400" b="0" i="0" u="none" strike="noStrike" dirty="0" err="1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中等偏上，基础到压轴</a:t>
            </a:r>
            <a:endParaRPr lang="en-US" sz="2400" dirty="0"/>
          </a:p>
          <a:p>
            <a:pPr marL="0" indent="0" algn="l">
              <a:lnSpc>
                <a:spcPct val="100000"/>
              </a:lnSpc>
            </a:pPr>
            <a:r>
              <a:rPr lang="en-US" sz="2400" b="0" i="0" u="none" strike="noStrike" dirty="0" err="1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要几次课时</a:t>
            </a:r>
            <a:r>
              <a:rPr lang="en-US" sz="2400" b="0" i="0" u="none" strike="noStrike" dirty="0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？→ 2 </a:t>
            </a:r>
            <a:r>
              <a:rPr lang="en-US" sz="2400" b="0" i="0" u="none" strike="noStrike" dirty="0" err="1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次课</a:t>
            </a:r>
            <a:endParaRPr lang="en-US" sz="2400" b="0" i="0" u="none" strike="noStrike" dirty="0">
              <a:solidFill>
                <a:srgbClr val="1F252D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2400" b="0" i="0" u="none" strike="noStrike" dirty="0" err="1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要哪些版本</a:t>
            </a:r>
            <a:r>
              <a:rPr lang="en-US" sz="2400" b="0" i="0" u="none" strike="noStrike" dirty="0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？→ </a:t>
            </a:r>
            <a:r>
              <a:rPr lang="en-US" sz="2400" b="0" i="0" u="none" strike="noStrike" dirty="0" err="1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学生版＋教师版</a:t>
            </a:r>
            <a:endParaRPr lang="en-US" sz="2400" b="0" i="0" u="none" strike="noStrike" dirty="0">
              <a:solidFill>
                <a:srgbClr val="1F252D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2400" b="0" i="0" u="none" strike="noStrike" dirty="0" err="1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用什么格式</a:t>
            </a:r>
            <a:r>
              <a:rPr lang="en-US" sz="2400" b="0" i="0" u="none" strike="noStrike" dirty="0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？→ </a:t>
            </a:r>
            <a:r>
              <a:rPr lang="en-US" sz="2400" b="0" i="0" u="none" strike="noStrike" dirty="0" err="1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LaTeX，输出</a:t>
            </a:r>
            <a:r>
              <a:rPr lang="en-US" sz="2400" b="0" i="0" u="none" strike="noStrike" dirty="0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PDF</a:t>
            </a:r>
          </a:p>
        </p:txBody>
      </p:sp>
      <p:sp>
        <p:nvSpPr>
          <p:cNvPr id="10" name="AutoShape 10"/>
          <p:cNvSpPr/>
          <p:nvPr/>
        </p:nvSpPr>
        <p:spPr>
          <a:xfrm rot="-48000">
            <a:off x="609267" y="6000752"/>
            <a:ext cx="7353300" cy="1647682"/>
          </a:xfrm>
          <a:prstGeom prst="rect">
            <a:avLst/>
          </a:prstGeom>
          <a:solidFill>
            <a:srgbClr val="FAEDB7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14400" y="6229350"/>
            <a:ext cx="6743700" cy="1181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 dirty="0" err="1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别嫌它问得多</a:t>
            </a:r>
            <a:r>
              <a:rPr lang="en-US" sz="2400" b="1" i="0" u="none" strike="noStrike" dirty="0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，</a:t>
            </a:r>
            <a:endParaRPr lang="en-US" sz="1200" dirty="0"/>
          </a:p>
          <a:p>
            <a:pPr marL="0" indent="0" algn="ctr">
              <a:lnSpc>
                <a:spcPct val="100000"/>
              </a:lnSpc>
            </a:pPr>
            <a:r>
              <a:rPr lang="en-US" sz="2400" b="1" i="0" u="none" strike="noStrike" dirty="0" err="1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这些问题都是为了</a:t>
            </a:r>
            <a:endParaRPr lang="en-US" sz="2400" b="1" i="0" u="none" strike="noStrike" dirty="0">
              <a:solidFill>
                <a:srgbClr val="1F252D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2800" b="1" i="0" u="none" strike="noStrike" dirty="0" err="1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让讲义更贴合你的课堂</a:t>
            </a:r>
            <a:r>
              <a:rPr lang="en-US" sz="2400" b="1" i="0" u="none" strike="noStrike" dirty="0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04850" y="8515350"/>
            <a:ext cx="15240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提问</a:t>
            </a:r>
            <a:endParaRPr lang="en-US" sz="1200"/>
          </a:p>
        </p:txBody>
      </p:sp>
      <p:sp>
        <p:nvSpPr>
          <p:cNvPr id="13" name="AutoShape 13"/>
          <p:cNvSpPr/>
          <p:nvPr/>
        </p:nvSpPr>
        <p:spPr>
          <a:xfrm>
            <a:off x="2209800" y="8496300"/>
            <a:ext cx="457200" cy="400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→</a:t>
            </a:r>
            <a:endParaRPr lang="en-US" sz="1200"/>
          </a:p>
        </p:txBody>
      </p:sp>
      <p:sp>
        <p:nvSpPr>
          <p:cNvPr id="14" name="AutoShape 14"/>
          <p:cNvSpPr/>
          <p:nvPr/>
        </p:nvSpPr>
        <p:spPr>
          <a:xfrm>
            <a:off x="2628900" y="8515350"/>
            <a:ext cx="15240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47679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回答</a:t>
            </a:r>
            <a:endParaRPr lang="en-US" sz="1200" dirty="0"/>
          </a:p>
        </p:txBody>
      </p:sp>
      <p:sp>
        <p:nvSpPr>
          <p:cNvPr id="15" name="AutoShape 15"/>
          <p:cNvSpPr/>
          <p:nvPr/>
        </p:nvSpPr>
        <p:spPr>
          <a:xfrm>
            <a:off x="4133850" y="8496300"/>
            <a:ext cx="457200" cy="400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→</a:t>
            </a:r>
            <a:endParaRPr lang="en-US" sz="1200"/>
          </a:p>
        </p:txBody>
      </p:sp>
      <p:sp>
        <p:nvSpPr>
          <p:cNvPr id="16" name="AutoShape 16"/>
          <p:cNvSpPr/>
          <p:nvPr/>
        </p:nvSpPr>
        <p:spPr>
          <a:xfrm>
            <a:off x="4552950" y="8515350"/>
            <a:ext cx="16764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52755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方案</a:t>
            </a:r>
            <a:endParaRPr lang="en-US" dirty="0"/>
          </a:p>
        </p:txBody>
      </p:sp>
      <p:sp>
        <p:nvSpPr>
          <p:cNvPr id="17" name="AutoShape 17"/>
          <p:cNvSpPr/>
          <p:nvPr/>
        </p:nvSpPr>
        <p:spPr>
          <a:xfrm>
            <a:off x="6229350" y="8496300"/>
            <a:ext cx="457200" cy="400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→</a:t>
            </a:r>
            <a:endParaRPr lang="en-US" sz="1200"/>
          </a:p>
        </p:txBody>
      </p:sp>
      <p:sp>
        <p:nvSpPr>
          <p:cNvPr id="18" name="AutoShape 18"/>
          <p:cNvSpPr/>
          <p:nvPr/>
        </p:nvSpPr>
        <p:spPr>
          <a:xfrm>
            <a:off x="6705600" y="8515350"/>
            <a:ext cx="11430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92701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批准</a:t>
            </a:r>
            <a:endParaRPr lang="en-US" sz="1200" dirty="0"/>
          </a:p>
        </p:txBody>
      </p:sp>
      <p:sp>
        <p:nvSpPr>
          <p:cNvPr id="19" name="AutoShape 19"/>
          <p:cNvSpPr/>
          <p:nvPr/>
        </p:nvSpPr>
        <p:spPr>
          <a:xfrm>
            <a:off x="666750" y="9525000"/>
            <a:ext cx="72390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答得越清楚，成品越贴合你的课堂。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2450" y="514350"/>
            <a:ext cx="76200" cy="266700"/>
          </a:xfrm>
          <a:prstGeom prst="rect">
            <a:avLst/>
          </a:prstGeom>
          <a:solidFill>
            <a:srgbClr val="D94A4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81050" y="495300"/>
            <a:ext cx="3048000" cy="3238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25" b="1" i="0" u="none" strike="noStrike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零基础也能上手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334250" y="514350"/>
            <a:ext cx="666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275" b="1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8/9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>
            <a:off x="552450" y="10744200"/>
            <a:ext cx="7467600" cy="9525"/>
          </a:xfrm>
          <a:prstGeom prst="line">
            <a:avLst/>
          </a:prstGeom>
          <a:noFill/>
          <a:ln w="12700">
            <a:solidFill>
              <a:srgbClr val="D8D0C5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552450" y="10887075"/>
            <a:ext cx="4953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25" b="0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build-tutoring-handout｜零基础教程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2450" y="1162050"/>
            <a:ext cx="7467600" cy="12001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450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第五步：收到的不是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3450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一份 PDF，而是一整套</a:t>
            </a:r>
          </a:p>
        </p:txBody>
      </p:sp>
      <p:sp>
        <p:nvSpPr>
          <p:cNvPr id="8" name="AutoShape 8"/>
          <p:cNvSpPr/>
          <p:nvPr/>
        </p:nvSpPr>
        <p:spPr>
          <a:xfrm rot="-89999">
            <a:off x="666750" y="2781300"/>
            <a:ext cx="3333750" cy="5372100"/>
          </a:xfrm>
          <a:prstGeom prst="roundRect">
            <a:avLst>
              <a:gd name="adj" fmla="val 3429"/>
            </a:avLst>
          </a:prstGeom>
          <a:solidFill>
            <a:srgbClr val="FFFDF8">
              <a:alpha val="100000"/>
            </a:srgbClr>
          </a:solidFill>
          <a:ln w="12700">
            <a:solidFill>
              <a:srgbClr val="D8D0C5">
                <a:alpha val="100000"/>
              </a:srgbClr>
            </a:solidFill>
            <a:prstDash val="solid"/>
          </a:ln>
          <a:effectLst>
            <a:outerShdw blurRad="50800" dist="12700" dir="5400000">
              <a:srgbClr val="000000">
                <a:alpha val="10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 rot="89999">
            <a:off x="4572000" y="2781300"/>
            <a:ext cx="3333750" cy="5372100"/>
          </a:xfrm>
          <a:prstGeom prst="roundRect">
            <a:avLst>
              <a:gd name="adj" fmla="val 3429"/>
            </a:avLst>
          </a:prstGeom>
          <a:solidFill>
            <a:srgbClr val="FFFDF8">
              <a:alpha val="100000"/>
            </a:srgbClr>
          </a:solidFill>
          <a:ln w="12700">
            <a:solidFill>
              <a:srgbClr val="D8D0C5">
                <a:alpha val="100000"/>
              </a:srgbClr>
            </a:solidFill>
            <a:prstDash val="solid"/>
          </a:ln>
          <a:effectLst>
            <a:outerShdw blurRad="50800" dist="12700" dir="5400000">
              <a:srgbClr val="000000">
                <a:alpha val="10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-90000">
            <a:off x="819150" y="3163639"/>
            <a:ext cx="3028950" cy="4283572"/>
          </a:xfrm>
          <a:prstGeom prst="roundRect">
            <a:avLst>
              <a:gd name="adj" fmla="val 3773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89999">
            <a:off x="4724400" y="3163639"/>
            <a:ext cx="3028950" cy="4283572"/>
          </a:xfrm>
          <a:prstGeom prst="roundRect">
            <a:avLst>
              <a:gd name="adj" fmla="val 377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838200" y="7620000"/>
            <a:ext cx="2990850" cy="361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75" b="1" i="0" u="none" strike="noStrike">
                <a:solidFill>
                  <a:srgbClr val="52755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学生版｜留出作答空间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743450" y="7620000"/>
            <a:ext cx="2990850" cy="361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75" b="1" i="0" u="none" strike="noStrike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教师版｜步骤＋易错点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85800" y="8591550"/>
            <a:ext cx="7200900" cy="1352550"/>
          </a:xfrm>
          <a:prstGeom prst="roundRect">
            <a:avLst>
              <a:gd name="adj" fmla="val 8450"/>
            </a:avLst>
          </a:prstGeom>
          <a:solidFill>
            <a:srgbClr val="FFFDF8">
              <a:alpha val="100000"/>
            </a:srgbClr>
          </a:solidFill>
          <a:ln w="12700">
            <a:solidFill>
              <a:srgbClr val="D8D0C5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 sz="1800" dirty="0"/>
          </a:p>
        </p:txBody>
      </p:sp>
      <p:sp>
        <p:nvSpPr>
          <p:cNvPr id="15" name="AutoShape 15"/>
          <p:cNvSpPr/>
          <p:nvPr/>
        </p:nvSpPr>
        <p:spPr>
          <a:xfrm>
            <a:off x="933450" y="8801100"/>
            <a:ext cx="2095500" cy="3238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一共拿到</a:t>
            </a:r>
            <a:endParaRPr lang="en-US" sz="1200" dirty="0"/>
          </a:p>
        </p:txBody>
      </p:sp>
      <p:sp>
        <p:nvSpPr>
          <p:cNvPr id="16" name="AutoShape 16"/>
          <p:cNvSpPr/>
          <p:nvPr/>
        </p:nvSpPr>
        <p:spPr>
          <a:xfrm>
            <a:off x="933450" y="9220200"/>
            <a:ext cx="657225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 dirty="0" err="1">
                <a:solidFill>
                  <a:srgbClr val="47679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学生版</a:t>
            </a:r>
            <a:r>
              <a:rPr lang="en-US" sz="2400" b="1" i="0" u="none" strike="noStrike" dirty="0">
                <a:solidFill>
                  <a:srgbClr val="47679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· </a:t>
            </a:r>
            <a:r>
              <a:rPr lang="en-US" sz="2400" b="1" i="0" u="none" strike="noStrike" dirty="0" err="1">
                <a:solidFill>
                  <a:srgbClr val="47679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教师版</a:t>
            </a:r>
            <a:r>
              <a:rPr lang="en-US" sz="2400" b="1" i="0" u="none" strike="noStrike" dirty="0">
                <a:solidFill>
                  <a:srgbClr val="47679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· </a:t>
            </a:r>
            <a:r>
              <a:rPr lang="en-US" sz="2400" b="1" i="0" u="none" strike="noStrike" dirty="0" err="1">
                <a:solidFill>
                  <a:srgbClr val="47679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覆盖矩阵</a:t>
            </a:r>
            <a:r>
              <a:rPr lang="en-US" sz="2400" b="1" i="0" u="none" strike="noStrike" dirty="0">
                <a:solidFill>
                  <a:srgbClr val="47679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· LaTeX </a:t>
            </a:r>
            <a:r>
              <a:rPr lang="en-US" sz="2400" b="1" i="0" u="none" strike="noStrike" dirty="0" err="1">
                <a:solidFill>
                  <a:srgbClr val="47679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源码</a:t>
            </a:r>
            <a:endParaRPr lang="en-US" sz="1200" dirty="0"/>
          </a:p>
        </p:txBody>
      </p:sp>
      <p:sp>
        <p:nvSpPr>
          <p:cNvPr id="17" name="AutoShape 17"/>
          <p:cNvSpPr/>
          <p:nvPr/>
        </p:nvSpPr>
        <p:spPr>
          <a:xfrm>
            <a:off x="933450" y="9620250"/>
            <a:ext cx="6286500" cy="266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b="0" i="0" u="none" strike="noStrike" dirty="0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PDF </a:t>
            </a:r>
            <a:r>
              <a:rPr lang="en-US" b="0" i="0" u="none" strike="noStrike" dirty="0" err="1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直接打印，源码随时可改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2450" y="514350"/>
            <a:ext cx="76200" cy="266700"/>
          </a:xfrm>
          <a:prstGeom prst="rect">
            <a:avLst/>
          </a:prstGeom>
          <a:solidFill>
            <a:srgbClr val="D94A4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81050" y="495300"/>
            <a:ext cx="3048000" cy="3238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25" b="1" i="0" u="none" strike="noStrike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零基础教程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334250" y="514350"/>
            <a:ext cx="666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275" b="1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9/9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>
            <a:off x="552450" y="10744200"/>
            <a:ext cx="7467600" cy="9525"/>
          </a:xfrm>
          <a:prstGeom prst="line">
            <a:avLst/>
          </a:prstGeom>
          <a:noFill/>
          <a:ln w="12700">
            <a:solidFill>
              <a:srgbClr val="D8D0C5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552450" y="10887075"/>
            <a:ext cx="4953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25" b="0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build-tutoring-handout｜零基础教程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2450" y="1390650"/>
            <a:ext cx="723900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50" b="1" i="0" u="none" strike="noStrike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用豆包做讲义的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 rot="-60000">
            <a:off x="514350" y="2190750"/>
            <a:ext cx="5715000" cy="742950"/>
          </a:xfrm>
          <a:prstGeom prst="rect">
            <a:avLst/>
          </a:prstGeom>
          <a:solidFill>
            <a:srgbClr val="FAEDB7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52450" y="2190750"/>
            <a:ext cx="5715000" cy="723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350" b="1" i="0" u="none" strike="noStrike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门槛，真的降下来了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71500" y="3219450"/>
            <a:ext cx="695325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175" b="1" i="0" u="none" strike="noStrike">
                <a:solidFill>
                  <a:srgbClr val="47679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下载 Skill、安装、排版，全程只用对话。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09600" y="4591050"/>
            <a:ext cx="7353300" cy="2209800"/>
          </a:xfrm>
          <a:prstGeom prst="roundRect">
            <a:avLst>
              <a:gd name="adj" fmla="val 5171"/>
            </a:avLst>
          </a:prstGeom>
          <a:solidFill>
            <a:srgbClr val="FFFDF8">
              <a:alpha val="100000"/>
            </a:srgbClr>
          </a:solidFill>
          <a:ln w="12700">
            <a:solidFill>
              <a:srgbClr val="D8D0C5">
                <a:alpha val="100000"/>
              </a:srgbClr>
            </a:solidFill>
            <a:prstDash val="solid"/>
          </a:ln>
          <a:effectLst>
            <a:outerShdw blurRad="12700" dir="5400000">
              <a:srgbClr val="000000">
                <a:alpha val="6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 sz="1600"/>
          </a:p>
        </p:txBody>
      </p:sp>
      <p:sp>
        <p:nvSpPr>
          <p:cNvPr id="12" name="AutoShape 12"/>
          <p:cNvSpPr/>
          <p:nvPr/>
        </p:nvSpPr>
        <p:spPr>
          <a:xfrm>
            <a:off x="895350" y="4953000"/>
            <a:ext cx="314325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0" i="0" u="none" strike="noStrike" dirty="0" err="1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你只需要会</a:t>
            </a:r>
            <a:endParaRPr lang="en-US" sz="1200" dirty="0"/>
          </a:p>
        </p:txBody>
      </p:sp>
      <p:sp>
        <p:nvSpPr>
          <p:cNvPr id="13" name="AutoShape 13"/>
          <p:cNvSpPr/>
          <p:nvPr/>
        </p:nvSpPr>
        <p:spPr>
          <a:xfrm>
            <a:off x="895350" y="5562600"/>
            <a:ext cx="6477000" cy="5143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打字</a:t>
            </a:r>
            <a:r>
              <a:rPr lang="en-US" sz="2800" b="1" i="0" u="none" strike="noStrike" dirty="0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× </a:t>
            </a:r>
            <a:r>
              <a:rPr lang="en-US" sz="2800" b="1" i="0" u="none" strike="noStrike" dirty="0" err="1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说清需求</a:t>
            </a:r>
            <a:r>
              <a:rPr lang="en-US" sz="2800" b="1" i="0" u="none" strike="noStrike" dirty="0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× </a:t>
            </a:r>
            <a:r>
              <a:rPr lang="en-US" sz="2800" b="1" i="0" u="none" strike="noStrike" dirty="0" err="1">
                <a:solidFill>
                  <a:srgbClr val="1F252D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检查成品</a:t>
            </a:r>
            <a:endParaRPr lang="en-US" sz="1200" dirty="0"/>
          </a:p>
        </p:txBody>
      </p:sp>
      <p:sp>
        <p:nvSpPr>
          <p:cNvPr id="14" name="AutoShape 14"/>
          <p:cNvSpPr/>
          <p:nvPr/>
        </p:nvSpPr>
        <p:spPr>
          <a:xfrm>
            <a:off x="895350" y="6286500"/>
            <a:ext cx="6096000" cy="3238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52755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工具：豆包</a:t>
            </a:r>
            <a:r>
              <a:rPr lang="en-US" sz="1600" b="1" i="0" u="none" strike="noStrike" dirty="0">
                <a:solidFill>
                  <a:srgbClr val="52755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＋ build-tutoring-handout</a:t>
            </a:r>
            <a:endParaRPr lang="en-US" sz="1200" dirty="0"/>
          </a:p>
        </p:txBody>
      </p:sp>
      <p:sp>
        <p:nvSpPr>
          <p:cNvPr id="15" name="AutoShape 15"/>
          <p:cNvSpPr/>
          <p:nvPr/>
        </p:nvSpPr>
        <p:spPr>
          <a:xfrm rot="36000">
            <a:off x="609600" y="7562850"/>
            <a:ext cx="7353300" cy="1295400"/>
          </a:xfrm>
          <a:prstGeom prst="rect">
            <a:avLst/>
          </a:prstGeom>
          <a:solidFill>
            <a:srgbClr val="F4D8D3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57250" y="7791450"/>
            <a:ext cx="6858000" cy="876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现在就去试试：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2400" b="1" i="0" u="none" strike="noStrike">
                <a:solidFill>
                  <a:srgbClr val="D94A4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把链接发给豆包，说你想做什么讲义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28650" y="9519558"/>
            <a:ext cx="733425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6E71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来源：github.com/potergh/build-tutoring-handout</a:t>
            </a:r>
            <a:endParaRPr lang="en-US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38" y="10960391"/>
            <a:ext cx="1071563" cy="4696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637</Words>
  <Application>Microsoft Office PowerPoint</Application>
  <PresentationFormat>自定义</PresentationFormat>
  <Paragraphs>188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Microsoft YaHei</vt:lpstr>
      <vt:lpstr>Microsoft YaHei</vt:lpstr>
      <vt:lpstr>Arial</vt:lpstr>
      <vt:lpstr>Office 主题​​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辉 汤</cp:lastModifiedBy>
  <cp:revision>5</cp:revision>
  <dcterms:modified xsi:type="dcterms:W3CDTF">2026-09-01T05:28:48Z</dcterms:modified>
</cp:coreProperties>
</file>